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Now Heavy" charset="1" panose="00000A00000000000000"/>
      <p:regular r:id="rId16"/>
    </p:embeddedFont>
    <p:embeddedFont>
      <p:font typeface="Now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docs.python.org/3/tutorial/introduction.html?utm_source=chatgpt.com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google.com/?utm_source=chatgpt.com" TargetMode="External" Type="http://schemas.openxmlformats.org/officeDocument/2006/relationships/hyperlink"/><Relationship Id="rId3" Target="https://www.netflix.com/?utm_source=chatgpt.com" TargetMode="External" Type="http://schemas.openxmlformats.org/officeDocument/2006/relationships/hyperlink"/><Relationship Id="rId4" Target="https://www.instagram.com/?utm_source=chatgpt.com" TargetMode="External" Type="http://schemas.openxmlformats.org/officeDocument/2006/relationships/hyperlink"/><Relationship Id="rId5" Target="https://www.spotify.com/?utm_source=chatgpt.com" TargetMode="External" Type="http://schemas.openxmlformats.org/officeDocument/2006/relationships/hyperlink"/><Relationship Id="rId6" Target="https://www.dropbox.com/?utm_source=chatgpt.com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CF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26541" y="3131054"/>
            <a:ext cx="8253109" cy="3555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49"/>
              </a:lnSpc>
            </a:pPr>
            <a:r>
              <a:rPr lang="en-US" b="true" sz="7848">
                <a:solidFill>
                  <a:srgbClr val="76BB9A"/>
                </a:solidFill>
                <a:latin typeface="Now Heavy"/>
                <a:ea typeface="Now Heavy"/>
                <a:cs typeface="Now Heavy"/>
                <a:sym typeface="Now Heavy"/>
              </a:rPr>
              <a:t>PESQUISA SOBRE A LIBGUAGEM PYTHON</a:t>
            </a:r>
          </a:p>
        </p:txBody>
      </p:sp>
      <p:sp>
        <p:nvSpPr>
          <p:cNvPr name="AutoShape 3" id="3"/>
          <p:cNvSpPr/>
          <p:nvPr/>
        </p:nvSpPr>
        <p:spPr>
          <a:xfrm>
            <a:off x="4193873" y="2864354"/>
            <a:ext cx="10368262" cy="0"/>
          </a:xfrm>
          <a:prstGeom prst="line">
            <a:avLst/>
          </a:prstGeom>
          <a:ln cap="flat" w="38100">
            <a:solidFill>
              <a:srgbClr val="76BB9A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4193873" y="6600597"/>
            <a:ext cx="10368262" cy="0"/>
          </a:xfrm>
          <a:prstGeom prst="line">
            <a:avLst/>
          </a:prstGeom>
          <a:ln cap="flat" w="38100">
            <a:solidFill>
              <a:srgbClr val="76BB9A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7002235" y="3600450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6BB9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582145" y="3600450"/>
            <a:ext cx="3086100" cy="308610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6BB9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523416" y="6968271"/>
            <a:ext cx="5241168" cy="160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3"/>
              </a:lnSpc>
            </a:pPr>
            <a:r>
              <a:rPr lang="en-US" sz="2280" spc="474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JOAO PEDRO</a:t>
            </a:r>
          </a:p>
          <a:p>
            <a:pPr algn="ctr">
              <a:lnSpc>
                <a:spcPts val="3193"/>
              </a:lnSpc>
            </a:pPr>
            <a:r>
              <a:rPr lang="en-US" sz="2280" spc="474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REBECA</a:t>
            </a:r>
          </a:p>
          <a:p>
            <a:pPr algn="ctr">
              <a:lnSpc>
                <a:spcPts val="3193"/>
              </a:lnSpc>
            </a:pPr>
            <a:r>
              <a:rPr lang="en-US" sz="2280" spc="474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DANIELE</a:t>
            </a:r>
          </a:p>
          <a:p>
            <a:pPr algn="ctr">
              <a:lnSpc>
                <a:spcPts val="3193"/>
              </a:lnSpc>
              <a:spcBef>
                <a:spcPct val="0"/>
              </a:spcBef>
            </a:pPr>
            <a:r>
              <a:rPr lang="en-US" sz="2280" spc="474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RAYANNE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CF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81050" y="3600450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6BB9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876191" y="948295"/>
            <a:ext cx="13125747" cy="1029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08"/>
              </a:lnSpc>
            </a:pPr>
            <a:r>
              <a:rPr lang="en-US" b="true" sz="8498" spc="-416">
                <a:solidFill>
                  <a:srgbClr val="76BB9A"/>
                </a:solidFill>
                <a:latin typeface="Now Heavy"/>
                <a:ea typeface="Now Heavy"/>
                <a:cs typeface="Now Heavy"/>
                <a:sym typeface="Now Heavy"/>
              </a:rPr>
              <a:t>Hi</a:t>
            </a:r>
            <a:r>
              <a:rPr lang="en-US" b="true" sz="8498" spc="-416">
                <a:solidFill>
                  <a:srgbClr val="76BB9A"/>
                </a:solidFill>
                <a:latin typeface="Now Heavy"/>
                <a:ea typeface="Now Heavy"/>
                <a:cs typeface="Now Heavy"/>
                <a:sym typeface="Now Heavy"/>
              </a:rPr>
              <a:t>stória da linguagem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70417" y="2381250"/>
            <a:ext cx="12758463" cy="550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Python é uma </a:t>
            </a:r>
            <a:r>
              <a:rPr lang="en-US" sz="3000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linguagem de programação criada no final dos anos 1980 e lançada oficialmente em 1991. Seu objetivo era ser uma linguagem simples, fácil de ler e produtiva para os programadores. O nome “Python” foi inspirado no grupo de comédia britânico “Monty Python”, mostrando que a linguagem foi criada com uma proposta mais descontraída e acessível.</a:t>
            </a:r>
          </a:p>
          <a:p>
            <a:pPr algn="just" marL="0" indent="0" lvl="0">
              <a:lnSpc>
                <a:spcPts val="3600"/>
              </a:lnSpc>
            </a:pPr>
            <a:r>
              <a:rPr lang="en-US" sz="3000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Ao longo dos anos, Python cresceu rapidamente e se tornou uma das linguagens mais utilizadas do mundo, principalmente em áreas como inteligência artificial, ciência de dados, automação e desenvolvimento web.</a:t>
            </a:r>
          </a:p>
          <a:p>
            <a:pPr algn="just" marL="0" indent="0" lvl="0">
              <a:lnSpc>
                <a:spcPts val="3600"/>
              </a:lnSpc>
            </a:pPr>
          </a:p>
          <a:p>
            <a:pPr algn="just" marL="0" indent="0" lvl="0">
              <a:lnSpc>
                <a:spcPts val="360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7655720" y="0"/>
            <a:ext cx="782535" cy="10287000"/>
            <a:chOff x="0" y="0"/>
            <a:chExt cx="206100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61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100">
                  <a:moveTo>
                    <a:pt x="0" y="0"/>
                  </a:moveTo>
                  <a:lnTo>
                    <a:pt x="206100" y="0"/>
                  </a:lnTo>
                  <a:lnTo>
                    <a:pt x="2061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6BB9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0610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CF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81050" y="3600450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6BB9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818509" y="904050"/>
            <a:ext cx="13125747" cy="1029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08"/>
              </a:lnSpc>
            </a:pPr>
            <a:r>
              <a:rPr lang="en-US" b="true" sz="8498" spc="-416">
                <a:solidFill>
                  <a:srgbClr val="76BB9A"/>
                </a:solidFill>
                <a:latin typeface="Now Heavy"/>
                <a:ea typeface="Now Heavy"/>
                <a:cs typeface="Now Heavy"/>
                <a:sym typeface="Now Heavy"/>
              </a:rPr>
              <a:t>C</a:t>
            </a:r>
            <a:r>
              <a:rPr lang="en-US" b="true" sz="8498" spc="-416">
                <a:solidFill>
                  <a:srgbClr val="76BB9A"/>
                </a:solidFill>
                <a:latin typeface="Now Heavy"/>
                <a:ea typeface="Now Heavy"/>
                <a:cs typeface="Now Heavy"/>
                <a:sym typeface="Now Heavy"/>
              </a:rPr>
              <a:t>riador(es)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70417" y="2609850"/>
            <a:ext cx="12758463" cy="504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Python foi criado por Gu</a:t>
            </a:r>
            <a:r>
              <a:rPr lang="en-US" sz="3000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ido van Rossum, um programador holandês. Ele desenvolveu a linguagem enquanto trabalhava no instituto CWI, na Holanda. Guido queria criar uma linguagem mais simples que outras existentes na época, mas ainda poderosa e eficiente.</a:t>
            </a:r>
          </a:p>
          <a:p>
            <a:pPr algn="just">
              <a:lnSpc>
                <a:spcPts val="3600"/>
              </a:lnSpc>
            </a:pPr>
          </a:p>
          <a:p>
            <a:pPr algn="just">
              <a:lnSpc>
                <a:spcPts val="3600"/>
              </a:lnSpc>
            </a:pPr>
          </a:p>
          <a:p>
            <a:pPr algn="just">
              <a:lnSpc>
                <a:spcPts val="3600"/>
              </a:lnSpc>
            </a:pPr>
          </a:p>
          <a:p>
            <a:pPr algn="just" marL="0" indent="0" lvl="0">
              <a:lnSpc>
                <a:spcPts val="3600"/>
              </a:lnSpc>
            </a:pPr>
            <a:r>
              <a:rPr lang="en-US" sz="3000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Por muitos anos, Guido foi conhecido como o “ditador benevolente” do Python, pois tomava as principais decisões sobre o desenvolvimento da linguagem.</a:t>
            </a:r>
          </a:p>
          <a:p>
            <a:pPr algn="just" marL="0" indent="0" lvl="0">
              <a:lnSpc>
                <a:spcPts val="360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7655720" y="0"/>
            <a:ext cx="782535" cy="10287000"/>
            <a:chOff x="0" y="0"/>
            <a:chExt cx="206100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61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100">
                  <a:moveTo>
                    <a:pt x="0" y="0"/>
                  </a:moveTo>
                  <a:lnTo>
                    <a:pt x="206100" y="0"/>
                  </a:lnTo>
                  <a:lnTo>
                    <a:pt x="2061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6BB9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0610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CF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81050" y="3600450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6BB9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876191" y="948295"/>
            <a:ext cx="13125747" cy="1029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08"/>
              </a:lnSpc>
            </a:pPr>
            <a:r>
              <a:rPr lang="en-US" b="true" sz="8498" spc="-416">
                <a:solidFill>
                  <a:srgbClr val="76BB9A"/>
                </a:solidFill>
                <a:latin typeface="Now Heavy"/>
                <a:ea typeface="Now Heavy"/>
                <a:cs typeface="Now Heavy"/>
                <a:sym typeface="Now Heavy"/>
              </a:rPr>
              <a:t>Princ</a:t>
            </a:r>
            <a:r>
              <a:rPr lang="en-US" b="true" sz="8498" spc="-416">
                <a:solidFill>
                  <a:srgbClr val="76BB9A"/>
                </a:solidFill>
                <a:latin typeface="Now Heavy"/>
                <a:ea typeface="Now Heavy"/>
                <a:cs typeface="Now Heavy"/>
                <a:sym typeface="Now Heavy"/>
              </a:rPr>
              <a:t>ipais Características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70417" y="1924050"/>
            <a:ext cx="12758463" cy="641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Python possui vár</a:t>
            </a:r>
            <a:r>
              <a:rPr lang="en-US" sz="3000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ias características que fizeram a linguagem se tornar popular:</a:t>
            </a:r>
          </a:p>
          <a:p>
            <a:pPr algn="just">
              <a:lnSpc>
                <a:spcPts val="3600"/>
              </a:lnSpc>
            </a:pP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Sintaxe simples e fácil de entender;</a:t>
            </a: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Código organizado e legível;</a:t>
            </a: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Linguagem interpretada;</a:t>
            </a: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Compatível com vários sistemas operacionais;</a:t>
            </a: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Grande quantidade de bibliotecas prontas;</a:t>
            </a: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Muito usada em inteligência artificial e automação.</a:t>
            </a: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</a:p>
          <a:p>
            <a:pPr algn="just" marL="0" indent="0" lvl="0">
              <a:lnSpc>
                <a:spcPts val="3600"/>
              </a:lnSpc>
            </a:pPr>
            <a:r>
              <a:rPr lang="en-US" sz="3000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Essas características fazem com que Python seja muito indicada para iniciantes e também para grandes projetos profissionais.</a:t>
            </a:r>
          </a:p>
          <a:p>
            <a:pPr algn="just" marL="0" indent="0" lvl="0">
              <a:lnSpc>
                <a:spcPts val="3600"/>
              </a:lnSpc>
            </a:pPr>
            <a:r>
              <a:rPr lang="en-US" sz="3000" u="none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Fonte:</a:t>
            </a:r>
          </a:p>
          <a:p>
            <a:pPr algn="just" marL="0" indent="0" lvl="0">
              <a:lnSpc>
                <a:spcPts val="360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7655720" y="0"/>
            <a:ext cx="782535" cy="10287000"/>
            <a:chOff x="0" y="0"/>
            <a:chExt cx="206100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61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100">
                  <a:moveTo>
                    <a:pt x="0" y="0"/>
                  </a:moveTo>
                  <a:lnTo>
                    <a:pt x="206100" y="0"/>
                  </a:lnTo>
                  <a:lnTo>
                    <a:pt x="2061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6BB9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0610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81050" y="3600450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6BB9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29656" y="571154"/>
            <a:ext cx="11945567" cy="2604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1"/>
              </a:lnSpc>
            </a:pPr>
            <a:r>
              <a:rPr lang="en-US" sz="7734" spc="-378" b="true">
                <a:solidFill>
                  <a:srgbClr val="76BB9A"/>
                </a:solidFill>
                <a:latin typeface="Now Heavy"/>
                <a:ea typeface="Now Heavy"/>
                <a:cs typeface="Now Heavy"/>
                <a:sym typeface="Now Heavy"/>
              </a:rPr>
              <a:t>Exemplo</a:t>
            </a:r>
            <a:r>
              <a:rPr lang="en-US" b="true" sz="7734" spc="-378">
                <a:solidFill>
                  <a:srgbClr val="76BB9A"/>
                </a:solidFill>
                <a:latin typeface="Now Heavy"/>
                <a:ea typeface="Now Heavy"/>
                <a:cs typeface="Now Heavy"/>
                <a:sym typeface="Now Heavy"/>
              </a:rPr>
              <a:t>s de Código</a:t>
            </a:r>
          </a:p>
          <a:p>
            <a:pPr algn="l">
              <a:lnSpc>
                <a:spcPts val="6651"/>
              </a:lnSpc>
            </a:pPr>
          </a:p>
          <a:p>
            <a:pPr algn="l" marL="0" indent="0" lvl="0">
              <a:lnSpc>
                <a:spcPts val="6651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429656" y="1739838"/>
            <a:ext cx="11028513" cy="7518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11"/>
              </a:lnSpc>
            </a:pPr>
            <a:r>
              <a:rPr lang="en-US" sz="2593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Um dos pontos fortes do Python é sua simp</a:t>
            </a:r>
            <a:r>
              <a:rPr lang="en-US" sz="2593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licidade. Um programa básico pode ser escrito com poucas linhas.</a:t>
            </a:r>
          </a:p>
          <a:p>
            <a:pPr algn="just">
              <a:lnSpc>
                <a:spcPts val="3111"/>
              </a:lnSpc>
            </a:pPr>
            <a:r>
              <a:rPr lang="en-US" sz="2593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Exemplo:</a:t>
            </a:r>
          </a:p>
          <a:p>
            <a:pPr algn="just">
              <a:lnSpc>
                <a:spcPts val="3111"/>
              </a:lnSpc>
            </a:pPr>
          </a:p>
          <a:p>
            <a:pPr algn="just">
              <a:lnSpc>
                <a:spcPts val="3111"/>
              </a:lnSpc>
            </a:pPr>
            <a:r>
              <a:rPr lang="en-US" sz="2593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nome = input("Digite seu nome: ")</a:t>
            </a:r>
          </a:p>
          <a:p>
            <a:pPr algn="just">
              <a:lnSpc>
                <a:spcPts val="3111"/>
              </a:lnSpc>
            </a:pPr>
          </a:p>
          <a:p>
            <a:pPr algn="just">
              <a:lnSpc>
                <a:spcPts val="3111"/>
              </a:lnSpc>
            </a:pPr>
            <a:r>
              <a:rPr lang="en-US" sz="2593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print("Olá,", nome)</a:t>
            </a:r>
          </a:p>
          <a:p>
            <a:pPr algn="just">
              <a:lnSpc>
                <a:spcPts val="3111"/>
              </a:lnSpc>
            </a:pPr>
          </a:p>
          <a:p>
            <a:pPr algn="just">
              <a:lnSpc>
                <a:spcPts val="3111"/>
              </a:lnSpc>
            </a:pPr>
            <a:r>
              <a:rPr lang="en-US" sz="2593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Esse código solicita o nome do usuário e exibe uma mensagem na tela.</a:t>
            </a:r>
          </a:p>
          <a:p>
            <a:pPr algn="just">
              <a:lnSpc>
                <a:spcPts val="3111"/>
              </a:lnSpc>
            </a:pPr>
            <a:r>
              <a:rPr lang="en-US" sz="2593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Outro exemplo:</a:t>
            </a:r>
          </a:p>
          <a:p>
            <a:pPr algn="just">
              <a:lnSpc>
                <a:spcPts val="3111"/>
              </a:lnSpc>
            </a:pPr>
          </a:p>
          <a:p>
            <a:pPr algn="just">
              <a:lnSpc>
                <a:spcPts val="3111"/>
              </a:lnSpc>
            </a:pPr>
            <a:r>
              <a:rPr lang="en-US" sz="2593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for i in range(5):</a:t>
            </a:r>
          </a:p>
          <a:p>
            <a:pPr algn="just">
              <a:lnSpc>
                <a:spcPts val="3111"/>
              </a:lnSpc>
            </a:pPr>
            <a:r>
              <a:rPr lang="en-US" sz="2593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    print(i)</a:t>
            </a:r>
          </a:p>
          <a:p>
            <a:pPr algn="just">
              <a:lnSpc>
                <a:spcPts val="3111"/>
              </a:lnSpc>
            </a:pPr>
          </a:p>
          <a:p>
            <a:pPr algn="just">
              <a:lnSpc>
                <a:spcPts val="3111"/>
              </a:lnSpc>
            </a:pPr>
            <a:r>
              <a:rPr lang="en-US" sz="2593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Esse código mostra números de 0 até 4.</a:t>
            </a:r>
          </a:p>
          <a:p>
            <a:pPr algn="just">
              <a:lnSpc>
                <a:spcPts val="3111"/>
              </a:lnSpc>
            </a:pPr>
            <a:r>
              <a:rPr lang="en-US" sz="2593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Fonte:</a:t>
            </a:r>
          </a:p>
          <a:p>
            <a:pPr algn="just" marL="559877" indent="-279938" lvl="1">
              <a:lnSpc>
                <a:spcPts val="3111"/>
              </a:lnSpc>
              <a:buFont typeface="Arial"/>
              <a:buChar char="•"/>
            </a:pPr>
            <a:r>
              <a:rPr lang="en-US" sz="2593" u="sng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  <a:hlinkClick r:id="rId2" tooltip="https://docs.python.org/3/tutorial/introduction.html?utm_source=chatgpt.com"/>
              </a:rPr>
              <a:t>Python Docs Tutorial</a:t>
            </a:r>
          </a:p>
          <a:p>
            <a:pPr algn="just" marL="0" indent="0" lvl="0">
              <a:lnSpc>
                <a:spcPts val="3111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7655720" y="0"/>
            <a:ext cx="782535" cy="10287000"/>
            <a:chOff x="0" y="0"/>
            <a:chExt cx="206100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61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100">
                  <a:moveTo>
                    <a:pt x="0" y="0"/>
                  </a:moveTo>
                  <a:lnTo>
                    <a:pt x="206100" y="0"/>
                  </a:lnTo>
                  <a:lnTo>
                    <a:pt x="2061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6BB9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0610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CF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81050" y="3600450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6BB9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876191" y="948295"/>
            <a:ext cx="13125747" cy="1029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08"/>
              </a:lnSpc>
            </a:pPr>
            <a:r>
              <a:rPr lang="en-US" b="true" sz="8498" spc="-416">
                <a:solidFill>
                  <a:srgbClr val="76BB9A"/>
                </a:solidFill>
                <a:latin typeface="Now Heavy"/>
                <a:ea typeface="Now Heavy"/>
                <a:cs typeface="Now Heavy"/>
                <a:sym typeface="Now Heavy"/>
              </a:rPr>
              <a:t>Á</a:t>
            </a:r>
            <a:r>
              <a:rPr lang="en-US" b="true" sz="8498" spc="-416">
                <a:solidFill>
                  <a:srgbClr val="76BB9A"/>
                </a:solidFill>
                <a:latin typeface="Now Heavy"/>
                <a:ea typeface="Now Heavy"/>
                <a:cs typeface="Now Heavy"/>
                <a:sym typeface="Now Heavy"/>
              </a:rPr>
              <a:t>reas de Aplicação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70417" y="2609850"/>
            <a:ext cx="12758463" cy="504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Python é usada </a:t>
            </a:r>
            <a:r>
              <a:rPr lang="en-US" sz="3000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em diversas áreas da tecnologia, como:</a:t>
            </a: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Desenvolvimento web;</a:t>
            </a: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Inteligência artificial;</a:t>
            </a: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Ciência de dados;</a:t>
            </a: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Segurança da informação;</a:t>
            </a: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Automação de tarefas;</a:t>
            </a: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Desenvolvimento de jogos;</a:t>
            </a: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Aplicações desktop.</a:t>
            </a:r>
          </a:p>
          <a:p>
            <a:pPr algn="just" marL="0" indent="0" lvl="0">
              <a:lnSpc>
                <a:spcPts val="3600"/>
              </a:lnSpc>
            </a:pPr>
            <a:r>
              <a:rPr lang="en-US" sz="3000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Sua versatilidade faz com que empresas e desenvolvedores escolham Python para diferentes tipos de projetos.</a:t>
            </a:r>
          </a:p>
          <a:p>
            <a:pPr algn="just" marL="0" indent="0" lvl="0">
              <a:lnSpc>
                <a:spcPts val="360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7655720" y="0"/>
            <a:ext cx="782535" cy="10287000"/>
            <a:chOff x="0" y="0"/>
            <a:chExt cx="206100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61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100">
                  <a:moveTo>
                    <a:pt x="0" y="0"/>
                  </a:moveTo>
                  <a:lnTo>
                    <a:pt x="206100" y="0"/>
                  </a:lnTo>
                  <a:lnTo>
                    <a:pt x="2061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6BB9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0610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CF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81050" y="3600450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6BB9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810250" y="441238"/>
            <a:ext cx="13125747" cy="195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08"/>
              </a:lnSpc>
            </a:pPr>
            <a:r>
              <a:rPr lang="en-US" b="true" sz="8498" spc="-416">
                <a:solidFill>
                  <a:srgbClr val="76BB9A"/>
                </a:solidFill>
                <a:latin typeface="Now Heavy"/>
                <a:ea typeface="Now Heavy"/>
                <a:cs typeface="Now Heavy"/>
                <a:sym typeface="Now Heavy"/>
              </a:rPr>
              <a:t>Van</a:t>
            </a:r>
            <a:r>
              <a:rPr lang="en-US" b="true" sz="8498" spc="-416">
                <a:solidFill>
                  <a:srgbClr val="76BB9A"/>
                </a:solidFill>
                <a:latin typeface="Now Heavy"/>
                <a:ea typeface="Now Heavy"/>
                <a:cs typeface="Now Heavy"/>
                <a:sym typeface="Now Heavy"/>
              </a:rPr>
              <a:t>tagens e Desvantagens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10250" y="2400300"/>
            <a:ext cx="11649856" cy="7514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87"/>
              </a:lnSpc>
            </a:pPr>
            <a:r>
              <a:rPr lang="en-US" sz="2739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Va</a:t>
            </a:r>
            <a:r>
              <a:rPr lang="en-US" sz="2739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ntagens</a:t>
            </a:r>
          </a:p>
          <a:p>
            <a:pPr algn="just">
              <a:lnSpc>
                <a:spcPts val="3287"/>
              </a:lnSpc>
            </a:pPr>
          </a:p>
          <a:p>
            <a:pPr algn="just" marL="591420" indent="-295710" lvl="1">
              <a:lnSpc>
                <a:spcPts val="3287"/>
              </a:lnSpc>
              <a:buFont typeface="Arial"/>
              <a:buChar char="•"/>
            </a:pPr>
            <a:r>
              <a:rPr lang="en-US" sz="2739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Fácil de aprender;</a:t>
            </a:r>
          </a:p>
          <a:p>
            <a:pPr algn="just" marL="591420" indent="-295710" lvl="1">
              <a:lnSpc>
                <a:spcPts val="3287"/>
              </a:lnSpc>
              <a:buFont typeface="Arial"/>
              <a:buChar char="•"/>
            </a:pPr>
            <a:r>
              <a:rPr lang="en-US" sz="2739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Grande comunidade de usuários;</a:t>
            </a:r>
          </a:p>
          <a:p>
            <a:pPr algn="just" marL="591420" indent="-295710" lvl="1">
              <a:lnSpc>
                <a:spcPts val="3287"/>
              </a:lnSpc>
              <a:buFont typeface="Arial"/>
              <a:buChar char="•"/>
            </a:pPr>
            <a:r>
              <a:rPr lang="en-US" sz="2739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Muitas bibliotecas prontas;</a:t>
            </a:r>
          </a:p>
          <a:p>
            <a:pPr algn="just" marL="591420" indent="-295710" lvl="1">
              <a:lnSpc>
                <a:spcPts val="3287"/>
              </a:lnSpc>
              <a:buFont typeface="Arial"/>
              <a:buChar char="•"/>
            </a:pPr>
            <a:r>
              <a:rPr lang="en-US" sz="2739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Alta produtividade;</a:t>
            </a:r>
          </a:p>
          <a:p>
            <a:pPr algn="just" marL="591420" indent="-295710" lvl="1">
              <a:lnSpc>
                <a:spcPts val="3287"/>
              </a:lnSpc>
              <a:buFont typeface="Arial"/>
              <a:buChar char="•"/>
            </a:pPr>
            <a:r>
              <a:rPr lang="en-US" sz="2739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Código simples e organizado.</a:t>
            </a:r>
          </a:p>
          <a:p>
            <a:pPr algn="just">
              <a:lnSpc>
                <a:spcPts val="3287"/>
              </a:lnSpc>
            </a:pPr>
          </a:p>
          <a:p>
            <a:pPr algn="just">
              <a:lnSpc>
                <a:spcPts val="3287"/>
              </a:lnSpc>
            </a:pPr>
            <a:r>
              <a:rPr lang="en-US" sz="2739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Desvantagens</a:t>
            </a:r>
          </a:p>
          <a:p>
            <a:pPr algn="just">
              <a:lnSpc>
                <a:spcPts val="3287"/>
              </a:lnSpc>
            </a:pPr>
          </a:p>
          <a:p>
            <a:pPr algn="just" marL="591420" indent="-295710" lvl="1">
              <a:lnSpc>
                <a:spcPts val="3287"/>
              </a:lnSpc>
              <a:buFont typeface="Arial"/>
              <a:buChar char="•"/>
            </a:pPr>
            <a:r>
              <a:rPr lang="en-US" sz="2739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Pode ser mais lenta que linguagens como C;</a:t>
            </a:r>
          </a:p>
          <a:p>
            <a:pPr algn="just" marL="591420" indent="-295710" lvl="1">
              <a:lnSpc>
                <a:spcPts val="3287"/>
              </a:lnSpc>
              <a:buFont typeface="Arial"/>
              <a:buChar char="•"/>
            </a:pPr>
            <a:r>
              <a:rPr lang="en-US" sz="2739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Consome mais memória;</a:t>
            </a:r>
          </a:p>
          <a:p>
            <a:pPr algn="just" marL="591420" indent="-295710" lvl="1">
              <a:lnSpc>
                <a:spcPts val="3287"/>
              </a:lnSpc>
              <a:buFont typeface="Arial"/>
              <a:buChar char="•"/>
            </a:pPr>
            <a:r>
              <a:rPr lang="en-US" sz="2739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Não é muito usada para desenvolvimento mobile nativo.</a:t>
            </a:r>
          </a:p>
          <a:p>
            <a:pPr algn="just">
              <a:lnSpc>
                <a:spcPts val="3287"/>
              </a:lnSpc>
            </a:pPr>
          </a:p>
          <a:p>
            <a:pPr algn="just">
              <a:lnSpc>
                <a:spcPts val="3287"/>
              </a:lnSpc>
            </a:pPr>
            <a:r>
              <a:rPr lang="en-US" sz="2739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Mesmo com algumas limitações, Python continua sendo extremamente popular no mercado.</a:t>
            </a:r>
          </a:p>
          <a:p>
            <a:pPr algn="just" marL="0" indent="0" lvl="0">
              <a:lnSpc>
                <a:spcPts val="3287"/>
              </a:lnSpc>
            </a:pPr>
            <a:r>
              <a:rPr lang="en-US" sz="2739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Fonte:</a:t>
            </a:r>
          </a:p>
          <a:p>
            <a:pPr algn="just" marL="0" indent="0" lvl="0">
              <a:lnSpc>
                <a:spcPts val="3287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7655720" y="0"/>
            <a:ext cx="782535" cy="10287000"/>
            <a:chOff x="0" y="0"/>
            <a:chExt cx="206100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61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100">
                  <a:moveTo>
                    <a:pt x="0" y="0"/>
                  </a:moveTo>
                  <a:lnTo>
                    <a:pt x="206100" y="0"/>
                  </a:lnTo>
                  <a:lnTo>
                    <a:pt x="2061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6BB9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0610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81050" y="3600450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6BB9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876191" y="948295"/>
            <a:ext cx="13125747" cy="1029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08"/>
              </a:lnSpc>
            </a:pPr>
            <a:r>
              <a:rPr lang="en-US" b="true" sz="8498" spc="-416">
                <a:solidFill>
                  <a:srgbClr val="76BB9A"/>
                </a:solidFill>
                <a:latin typeface="Now Heavy"/>
                <a:ea typeface="Now Heavy"/>
                <a:cs typeface="Now Heavy"/>
                <a:sym typeface="Now Heavy"/>
              </a:rPr>
              <a:t>Empre</a:t>
            </a:r>
            <a:r>
              <a:rPr lang="en-US" b="true" sz="8498" spc="-416">
                <a:solidFill>
                  <a:srgbClr val="76BB9A"/>
                </a:solidFill>
                <a:latin typeface="Now Heavy"/>
                <a:ea typeface="Now Heavy"/>
                <a:cs typeface="Now Heavy"/>
                <a:sym typeface="Now Heavy"/>
              </a:rPr>
              <a:t>sas que Utilizam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70417" y="2838450"/>
            <a:ext cx="12758463" cy="459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Diversas </a:t>
            </a:r>
            <a:r>
              <a:rPr lang="en-US" sz="3000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empresas famosas utilizam Python em seus sistemas e aplicações, incluindo:</a:t>
            </a: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 u="sng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  <a:hlinkClick r:id="rId2" tooltip="https://www.google.com/?utm_source=chatgpt.com"/>
              </a:rPr>
              <a:t>Google</a:t>
            </a: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 u="sng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  <a:hlinkClick r:id="rId3" tooltip="https://www.netflix.com/?utm_source=chatgpt.com"/>
              </a:rPr>
              <a:t>Netflix</a:t>
            </a: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 u="sng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  <a:hlinkClick r:id="rId4" tooltip="https://www.instagram.com/?utm_source=chatgpt.com"/>
              </a:rPr>
              <a:t>Instagram</a:t>
            </a: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 u="sng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  <a:hlinkClick r:id="rId5" tooltip="https://www.spotify.com/?utm_source=chatgpt.com"/>
              </a:rPr>
              <a:t>Spotify</a:t>
            </a: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 u="sng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  <a:hlinkClick r:id="rId6" tooltip="https://www.dropbox.com/?utm_source=chatgpt.com"/>
              </a:rPr>
              <a:t>Dropbox</a:t>
            </a:r>
          </a:p>
          <a:p>
            <a:pPr algn="just" marL="0" indent="0" lvl="0">
              <a:lnSpc>
                <a:spcPts val="3600"/>
              </a:lnSpc>
            </a:pPr>
            <a:r>
              <a:rPr lang="en-US" sz="3000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Essas empresas utilizam Python devido à sua rapidez no desenvolvimento e facilidade de manutenção</a:t>
            </a:r>
          </a:p>
          <a:p>
            <a:pPr algn="just" marL="0" indent="0" lvl="0">
              <a:lnSpc>
                <a:spcPts val="360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7655720" y="0"/>
            <a:ext cx="782535" cy="10287000"/>
            <a:chOff x="0" y="0"/>
            <a:chExt cx="206100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61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100">
                  <a:moveTo>
                    <a:pt x="0" y="0"/>
                  </a:moveTo>
                  <a:lnTo>
                    <a:pt x="206100" y="0"/>
                  </a:lnTo>
                  <a:lnTo>
                    <a:pt x="2061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6BB9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0610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CF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81050" y="3600450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6BB9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312509" y="1295400"/>
            <a:ext cx="13125747" cy="1029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08"/>
              </a:lnSpc>
            </a:pPr>
            <a:r>
              <a:rPr lang="en-US" b="true" sz="8498" spc="-416">
                <a:solidFill>
                  <a:srgbClr val="76BB9A"/>
                </a:solidFill>
                <a:latin typeface="Now Heavy"/>
                <a:ea typeface="Now Heavy"/>
                <a:cs typeface="Now Heavy"/>
                <a:sym typeface="Now Heavy"/>
              </a:rPr>
              <a:t>Curio</a:t>
            </a:r>
            <a:r>
              <a:rPr lang="en-US" b="true" sz="8498" spc="-416">
                <a:solidFill>
                  <a:srgbClr val="76BB9A"/>
                </a:solidFill>
                <a:latin typeface="Now Heavy"/>
                <a:ea typeface="Now Heavy"/>
                <a:cs typeface="Now Heavy"/>
                <a:sym typeface="Now Heavy"/>
              </a:rPr>
              <a:t>sidades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98640" y="2637493"/>
            <a:ext cx="14090720" cy="4049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15334" indent="-357667" lvl="1">
              <a:lnSpc>
                <a:spcPts val="3975"/>
              </a:lnSpc>
              <a:buFont typeface="Arial"/>
              <a:buChar char="•"/>
            </a:pPr>
            <a:r>
              <a:rPr lang="en-US" sz="3313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Python recebeu </a:t>
            </a:r>
            <a:r>
              <a:rPr lang="en-US" sz="3313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esse nome por causa do grupo “Monty Python”.</a:t>
            </a:r>
          </a:p>
          <a:p>
            <a:pPr algn="just" marL="715334" indent="-357667" lvl="1">
              <a:lnSpc>
                <a:spcPts val="3975"/>
              </a:lnSpc>
              <a:buFont typeface="Arial"/>
              <a:buChar char="•"/>
            </a:pPr>
            <a:r>
              <a:rPr lang="en-US" sz="3313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É uma das linguagens mais ensinadas em universidades.</a:t>
            </a:r>
          </a:p>
          <a:p>
            <a:pPr algn="just" marL="715334" indent="-357667" lvl="1">
              <a:lnSpc>
                <a:spcPts val="3975"/>
              </a:lnSpc>
              <a:buFont typeface="Arial"/>
              <a:buChar char="•"/>
            </a:pPr>
            <a:r>
              <a:rPr lang="en-US" sz="3313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Python é muito usada em projetos de inteligência artificial.</a:t>
            </a:r>
          </a:p>
          <a:p>
            <a:pPr algn="just" marL="715334" indent="-357667" lvl="1">
              <a:lnSpc>
                <a:spcPts val="3975"/>
              </a:lnSpc>
              <a:buFont typeface="Arial"/>
              <a:buChar char="•"/>
            </a:pPr>
            <a:r>
              <a:rPr lang="en-US" sz="3313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Grandes plataformas digitais utilizam Python diariamente.</a:t>
            </a:r>
          </a:p>
          <a:p>
            <a:pPr algn="just" marL="715334" indent="-357667" lvl="1">
              <a:lnSpc>
                <a:spcPts val="3975"/>
              </a:lnSpc>
              <a:buFont typeface="Arial"/>
              <a:buChar char="•"/>
            </a:pPr>
            <a:r>
              <a:rPr lang="en-US" sz="3313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A linguagem possui uma comunidade enorme no mundo inteiro.</a:t>
            </a:r>
          </a:p>
          <a:p>
            <a:pPr algn="just" marL="0" indent="0" lvl="0">
              <a:lnSpc>
                <a:spcPts val="3975"/>
              </a:lnSpc>
            </a:pPr>
            <a:r>
              <a:rPr lang="en-US" sz="3313">
                <a:solidFill>
                  <a:srgbClr val="76BB9A"/>
                </a:solidFill>
                <a:latin typeface="Now"/>
                <a:ea typeface="Now"/>
                <a:cs typeface="Now"/>
                <a:sym typeface="Now"/>
              </a:rPr>
              <a:t>Atualmente, Python está entre as linguagens de programação mais populares do planeta.</a:t>
            </a:r>
          </a:p>
          <a:p>
            <a:pPr algn="just" marL="0" indent="0" lvl="0">
              <a:lnSpc>
                <a:spcPts val="3975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7655720" y="0"/>
            <a:ext cx="782535" cy="10287000"/>
            <a:chOff x="0" y="0"/>
            <a:chExt cx="206100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61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100">
                  <a:moveTo>
                    <a:pt x="0" y="0"/>
                  </a:moveTo>
                  <a:lnTo>
                    <a:pt x="206100" y="0"/>
                  </a:lnTo>
                  <a:lnTo>
                    <a:pt x="2061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6BB9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0610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CF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81050" y="3600450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6BB9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827357" y="4107622"/>
            <a:ext cx="4633285" cy="2814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57"/>
              </a:lnSpc>
            </a:pPr>
            <a:r>
              <a:rPr lang="en-US" b="true" sz="23323" spc="-1142">
                <a:solidFill>
                  <a:srgbClr val="76BB9A"/>
                </a:solidFill>
                <a:latin typeface="Now Heavy"/>
                <a:ea typeface="Now Heavy"/>
                <a:cs typeface="Now Heavy"/>
                <a:sym typeface="Now Heavy"/>
              </a:rPr>
              <a:t>fim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7655720" y="0"/>
            <a:ext cx="782535" cy="10287000"/>
            <a:chOff x="0" y="0"/>
            <a:chExt cx="206100" cy="27093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61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100">
                  <a:moveTo>
                    <a:pt x="0" y="0"/>
                  </a:moveTo>
                  <a:lnTo>
                    <a:pt x="206100" y="0"/>
                  </a:lnTo>
                  <a:lnTo>
                    <a:pt x="2061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6BB9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0610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3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DAHKag37ClQ</dc:identifier>
  <dcterms:modified xsi:type="dcterms:W3CDTF">2011-08-01T06:04:30Z</dcterms:modified>
  <cp:revision>1</cp:revision>
  <dc:title>pesquisa sobre a libguagem python</dc:title>
</cp:coreProperties>
</file>